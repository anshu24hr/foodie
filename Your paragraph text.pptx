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706" y="621036"/>
            <a:ext cx="2715105" cy="2569481"/>
          </a:xfrm>
          <a:custGeom>
            <a:avLst/>
            <a:gdLst/>
            <a:ahLst/>
            <a:cxnLst/>
            <a:rect r="r" b="b" t="t" l="l"/>
            <a:pathLst>
              <a:path h="2569481" w="2715105">
                <a:moveTo>
                  <a:pt x="0" y="0"/>
                </a:moveTo>
                <a:lnTo>
                  <a:pt x="2715105" y="0"/>
                </a:lnTo>
                <a:lnTo>
                  <a:pt x="2715105" y="2569482"/>
                </a:lnTo>
                <a:lnTo>
                  <a:pt x="0" y="256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5" r="-4281" b="-48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066175" y="544836"/>
            <a:ext cx="6146125" cy="71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SYNOPSIS 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4053" y="1427209"/>
            <a:ext cx="5347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6540" y="2188574"/>
            <a:ext cx="11945426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&lt;&lt; FOODIE – Online Foo</a:t>
            </a: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Ordering and Restaurant Website &gt;&gt;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30483" y="2993098"/>
            <a:ext cx="5182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2928" y="3719853"/>
            <a:ext cx="95421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&lt;&lt;Arun Kumar&gt;&gt;  &lt;&lt;2628mca0295@kiet.edu&gt;&gt;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3386" y="4306252"/>
            <a:ext cx="97152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&lt;&lt;Anshu Kumar&gt;&gt; &lt;&lt;2628mca0316@kiet.edu&gt;&gt;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48294" y="4896167"/>
            <a:ext cx="92854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&lt;&lt;Anjali Tyagi&gt;&gt; &lt;&lt;2628mca0258@kiet.edu&gt;&gt;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88509" y="5619433"/>
            <a:ext cx="691098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Session: 2026 - 2027 (I Semester)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1620" y="6428423"/>
            <a:ext cx="4735235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 the Supervision of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01142" y="7006907"/>
            <a:ext cx="10495241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Mrs. Mahima Tayal </a:t>
            </a: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(Assistant Professor)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89505" y="7873682"/>
            <a:ext cx="81185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Applications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549841" y="8606472"/>
            <a:ext cx="134588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KIET Deemed To Be University , Delhi - NCR , Ghaziabad-201206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548803" y="9872662"/>
            <a:ext cx="171858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7734638" y="465749"/>
            <a:ext cx="0" cy="94069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529753" y="465749"/>
            <a:ext cx="19050" cy="94069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548803" y="465749"/>
            <a:ext cx="171858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222714" y="1287194"/>
            <a:ext cx="8190548" cy="224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FOODIE – Online Food Ordering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Restaurant Website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71591" y="3285353"/>
            <a:ext cx="5958126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Arun Kumar - 2628mca0295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21229" y="3926700"/>
            <a:ext cx="6245543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Anshu Kumar - 2628mca0316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49161" y="4572635"/>
            <a:ext cx="5802987" cy="120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Anjali Tyagi - 2628mca0258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6378" y="6334125"/>
            <a:ext cx="575524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Date -  September 14 ,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256208" y="5132609"/>
            <a:ext cx="3824457" cy="4438628"/>
            <a:chOff x="0" y="0"/>
            <a:chExt cx="1007264" cy="1169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7264" cy="1169021"/>
            </a:xfrm>
            <a:custGeom>
              <a:avLst/>
              <a:gdLst/>
              <a:ahLst/>
              <a:cxnLst/>
              <a:rect r="r" b="b" t="t" l="l"/>
              <a:pathLst>
                <a:path h="1169021" w="1007264">
                  <a:moveTo>
                    <a:pt x="0" y="0"/>
                  </a:moveTo>
                  <a:lnTo>
                    <a:pt x="1007264" y="0"/>
                  </a:lnTo>
                  <a:lnTo>
                    <a:pt x="1007264" y="1169021"/>
                  </a:lnTo>
                  <a:lnTo>
                    <a:pt x="0" y="116902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07264" cy="1207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592398" y="962025"/>
            <a:ext cx="38220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798487"/>
            <a:ext cx="15917419" cy="312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Foodie is a responsive frontend web application designed to provide a simple and convenient food-ordering experience.</a:t>
            </a:r>
          </a:p>
          <a:p>
            <a:pPr algn="l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allows users to explore the restaurant's food menu, select food categories, and access an order-tracking interface.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homepage specifically promotes easy ordering directly from the table, allowing customers to scan, choose their food, and place an order without waiting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942" y="5076825"/>
            <a:ext cx="30925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Features: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92398" y="5132609"/>
            <a:ext cx="3822025" cy="4488892"/>
            <a:chOff x="0" y="0"/>
            <a:chExt cx="1006624" cy="11822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6624" cy="1182260"/>
            </a:xfrm>
            <a:custGeom>
              <a:avLst/>
              <a:gdLst/>
              <a:ahLst/>
              <a:cxnLst/>
              <a:rect r="r" b="b" t="t" l="l"/>
              <a:pathLst>
                <a:path h="1182260" w="1006624">
                  <a:moveTo>
                    <a:pt x="0" y="0"/>
                  </a:moveTo>
                  <a:lnTo>
                    <a:pt x="1006624" y="0"/>
                  </a:lnTo>
                  <a:lnTo>
                    <a:pt x="1006624" y="1182260"/>
                  </a:lnTo>
                  <a:lnTo>
                    <a:pt x="0" y="118226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06624" cy="1220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710254" y="5362258"/>
            <a:ext cx="3586314" cy="3749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Attractive home page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Easy food ordering interface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Menu option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category filtering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Biryani category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Chinese category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6208" y="5362258"/>
            <a:ext cx="4066129" cy="291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Desserts category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Drinks category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tracking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ID input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Table Number input</a:t>
            </a:r>
          </a:p>
          <a:p>
            <a:pPr algn="l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Responsive user interface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971835" y="800261"/>
            <a:ext cx="264795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06702"/>
            <a:ext cx="13133962" cy="414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26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main objectives of the Foodie project are: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develop a modern and attractive food-ordering website.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create a simple and user-friendly interface.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allow customers to explore available food items.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provide an Order Tracking interface.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allow users to enter their Order ID and Table Number.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provide clear call-to-action buttons.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demonstrate practical implementation of HTML, CSS, and JavaScript.</a:t>
            </a:r>
          </a:p>
          <a:p>
            <a:pPr algn="l" marL="565566" indent="-282783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improve the overall digital food-ordering experience.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4255" y="5973905"/>
            <a:ext cx="417040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Measurement of Success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84342"/>
            <a:ext cx="9169598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can be considered successful if: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easily navigate the website.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access the menu without confusion.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categories are clearly displayed.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access the order-tracking page.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enter Order ID and Table Number.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interface works properly on different screen sizes.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95551" y="3318115"/>
            <a:ext cx="3086100" cy="5217448"/>
            <a:chOff x="0" y="0"/>
            <a:chExt cx="812800" cy="13741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374143"/>
            </a:xfrm>
            <a:custGeom>
              <a:avLst/>
              <a:gdLst/>
              <a:ahLst/>
              <a:cxnLst/>
              <a:rect r="r" b="b" t="t" l="l"/>
              <a:pathLst>
                <a:path h="1374143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46202"/>
                  </a:lnTo>
                  <a:cubicBezTo>
                    <a:pt x="812800" y="1280134"/>
                    <a:pt x="799321" y="1312676"/>
                    <a:pt x="775327" y="1336670"/>
                  </a:cubicBezTo>
                  <a:cubicBezTo>
                    <a:pt x="751333" y="1360663"/>
                    <a:pt x="718791" y="1374143"/>
                    <a:pt x="684859" y="1374143"/>
                  </a:cubicBezTo>
                  <a:lnTo>
                    <a:pt x="127941" y="1374143"/>
                  </a:lnTo>
                  <a:cubicBezTo>
                    <a:pt x="94009" y="1374143"/>
                    <a:pt x="61467" y="1360663"/>
                    <a:pt x="37473" y="1336670"/>
                  </a:cubicBezTo>
                  <a:cubicBezTo>
                    <a:pt x="13479" y="1312676"/>
                    <a:pt x="0" y="1280134"/>
                    <a:pt x="0" y="124620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141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07498" y="650875"/>
            <a:ext cx="153650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8944" y="1626750"/>
            <a:ext cx="1568017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scope of the project is focused on the frontend development of the Foodie restaurant website.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81801" y="4040852"/>
            <a:ext cx="3086100" cy="5217448"/>
            <a:chOff x="0" y="0"/>
            <a:chExt cx="812800" cy="1374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374143"/>
            </a:xfrm>
            <a:custGeom>
              <a:avLst/>
              <a:gdLst/>
              <a:ahLst/>
              <a:cxnLst/>
              <a:rect r="r" b="b" t="t" l="l"/>
              <a:pathLst>
                <a:path h="1374143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46202"/>
                  </a:lnTo>
                  <a:cubicBezTo>
                    <a:pt x="812800" y="1280134"/>
                    <a:pt x="799321" y="1312676"/>
                    <a:pt x="775327" y="1336670"/>
                  </a:cubicBezTo>
                  <a:cubicBezTo>
                    <a:pt x="751333" y="1360663"/>
                    <a:pt x="718791" y="1374143"/>
                    <a:pt x="684859" y="1374143"/>
                  </a:cubicBezTo>
                  <a:lnTo>
                    <a:pt x="127941" y="1374143"/>
                  </a:lnTo>
                  <a:cubicBezTo>
                    <a:pt x="94009" y="1374143"/>
                    <a:pt x="61467" y="1360663"/>
                    <a:pt x="37473" y="1336670"/>
                  </a:cubicBezTo>
                  <a:cubicBezTo>
                    <a:pt x="13479" y="1312676"/>
                    <a:pt x="0" y="1280134"/>
                    <a:pt x="0" y="124620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141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28571" y="3367942"/>
            <a:ext cx="3086100" cy="5217448"/>
            <a:chOff x="0" y="0"/>
            <a:chExt cx="812800" cy="13741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374143"/>
            </a:xfrm>
            <a:custGeom>
              <a:avLst/>
              <a:gdLst/>
              <a:ahLst/>
              <a:cxnLst/>
              <a:rect r="r" b="b" t="t" l="l"/>
              <a:pathLst>
                <a:path h="1374143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46202"/>
                  </a:lnTo>
                  <a:cubicBezTo>
                    <a:pt x="812800" y="1280134"/>
                    <a:pt x="799321" y="1312676"/>
                    <a:pt x="775327" y="1336670"/>
                  </a:cubicBezTo>
                  <a:cubicBezTo>
                    <a:pt x="751333" y="1360663"/>
                    <a:pt x="718791" y="1374143"/>
                    <a:pt x="684859" y="1374143"/>
                  </a:cubicBezTo>
                  <a:lnTo>
                    <a:pt x="127941" y="1374143"/>
                  </a:lnTo>
                  <a:cubicBezTo>
                    <a:pt x="94009" y="1374143"/>
                    <a:pt x="61467" y="1360663"/>
                    <a:pt x="37473" y="1336670"/>
                  </a:cubicBezTo>
                  <a:cubicBezTo>
                    <a:pt x="13479" y="1312676"/>
                    <a:pt x="0" y="1280134"/>
                    <a:pt x="0" y="124620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141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73200" y="4040852"/>
            <a:ext cx="3086100" cy="5217448"/>
            <a:chOff x="0" y="0"/>
            <a:chExt cx="812800" cy="13741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374143"/>
            </a:xfrm>
            <a:custGeom>
              <a:avLst/>
              <a:gdLst/>
              <a:ahLst/>
              <a:cxnLst/>
              <a:rect r="r" b="b" t="t" l="l"/>
              <a:pathLst>
                <a:path h="1374143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46202"/>
                  </a:lnTo>
                  <a:cubicBezTo>
                    <a:pt x="812800" y="1280134"/>
                    <a:pt x="799321" y="1312676"/>
                    <a:pt x="775327" y="1336670"/>
                  </a:cubicBezTo>
                  <a:cubicBezTo>
                    <a:pt x="751333" y="1360663"/>
                    <a:pt x="718791" y="1374143"/>
                    <a:pt x="684859" y="1374143"/>
                  </a:cubicBezTo>
                  <a:lnTo>
                    <a:pt x="127941" y="1374143"/>
                  </a:lnTo>
                  <a:cubicBezTo>
                    <a:pt x="94009" y="1374143"/>
                    <a:pt x="61467" y="1360663"/>
                    <a:pt x="37473" y="1336670"/>
                  </a:cubicBezTo>
                  <a:cubicBezTo>
                    <a:pt x="13479" y="1312676"/>
                    <a:pt x="0" y="1280134"/>
                    <a:pt x="0" y="1246202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1412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11778" y="3542056"/>
            <a:ext cx="3112723" cy="471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3"/>
              </a:lnSpc>
            </a:pPr>
            <a:r>
              <a:rPr lang="en-US" b="true" sz="26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 Page</a:t>
            </a:r>
          </a:p>
          <a:p>
            <a:pPr algn="l" marL="526323" indent="-263161" lvl="1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Foodie branding</a:t>
            </a:r>
          </a:p>
          <a:p>
            <a:pPr algn="l" marL="526323" indent="-263161" lvl="1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“Good Food. Good Mood.” heading</a:t>
            </a:r>
          </a:p>
          <a:p>
            <a:pPr algn="l" marL="526323" indent="-263161" lvl="1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Food-related introduction</a:t>
            </a:r>
          </a:p>
          <a:p>
            <a:pPr algn="l" marL="526323" indent="-263161" lvl="1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Menu button</a:t>
            </a:r>
          </a:p>
          <a:p>
            <a:pPr algn="l" marL="526323" indent="-263161" lvl="1">
              <a:lnSpc>
                <a:spcPts val="3412"/>
              </a:lnSpc>
              <a:buFont typeface="Arial"/>
              <a:buChar char="•"/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 Order button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81801" y="4286000"/>
            <a:ext cx="3086100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80471" y="4757701"/>
            <a:ext cx="1880949" cy="261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Pizza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Burger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Biryani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Chinese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Desserts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Drinks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77500" y="3559508"/>
            <a:ext cx="3086100" cy="90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Tracking Page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8571" y="4696185"/>
            <a:ext cx="3086100" cy="8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ID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Table Number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73200" y="4312007"/>
            <a:ext cx="3086100" cy="8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Responsive UI (Excluded)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73200" y="5330796"/>
            <a:ext cx="3195373" cy="392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Production backend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Permanent database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Online payment gateway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delivery GPS</a:t>
            </a:r>
          </a:p>
          <a:p>
            <a:pPr algn="l">
              <a:lnSpc>
                <a:spcPts val="3498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51795" y="2320470"/>
            <a:ext cx="3611761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Included in the Project: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6" id="6"/>
          <p:cNvGraphicFramePr/>
          <p:nvPr/>
        </p:nvGraphicFramePr>
        <p:xfrm>
          <a:off x="10516245" y="5052720"/>
          <a:ext cx="3771900" cy="5029200"/>
        </p:xfrm>
        <a:graphic>
          <a:graphicData uri="http://schemas.openxmlformats.org/presentationml/2006/ole">
            <p:oleObj imgW="47752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6913771" y="831534"/>
            <a:ext cx="2981563" cy="61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5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9993" y="1593085"/>
            <a:ext cx="8593911" cy="9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5"/>
              </a:lnSpc>
              <a:spcBef>
                <a:spcPct val="0"/>
              </a:spcBef>
            </a:pPr>
            <a:r>
              <a:rPr lang="en-US" b="true" sz="28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 Methodology</a:t>
            </a:r>
          </a:p>
          <a:p>
            <a:pPr algn="l">
              <a:lnSpc>
                <a:spcPts val="3671"/>
              </a:lnSpc>
              <a:spcBef>
                <a:spcPct val="0"/>
              </a:spcBef>
            </a:pPr>
            <a:r>
              <a:rPr lang="en-US" sz="2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website can be developed in the following stages: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993" y="2811141"/>
            <a:ext cx="4833461" cy="305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 – Requirement Analysis</a:t>
            </a:r>
          </a:p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the main requirements: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menu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categories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Ordering interface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tracking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Responsive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13771" y="2811141"/>
            <a:ext cx="3145274" cy="34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 – UI Design</a:t>
            </a:r>
          </a:p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the layout of: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Home page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Menu page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cards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Buttons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Tracking page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55991" y="2811141"/>
            <a:ext cx="4922997" cy="129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 – Frontend Development</a:t>
            </a:r>
          </a:p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the interface using: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HTML5 → CSS3 → JavaScript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2257" y="6051992"/>
            <a:ext cx="4194691" cy="34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 – Testing</a:t>
            </a:r>
          </a:p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Test: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Navigation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Buttons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Menu categories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Responsive layout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tracking interface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fields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38608" y="4344666"/>
            <a:ext cx="3237667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5 – Deployment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357559" y="768971"/>
            <a:ext cx="6876931" cy="49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b="true" sz="29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and Software Requirement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3568" y="1614995"/>
            <a:ext cx="3906203" cy="44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Requirements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568" y="2092296"/>
            <a:ext cx="8258413" cy="305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Minimum Hardware: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Computer/Laptop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Processor: Dual Core or above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RAM: 4 GB minimum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Storage: At least 500 MB free space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Keyboard and Mouse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Internet connection for online deployment/testing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568" y="5381625"/>
            <a:ext cx="5693885" cy="277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1"/>
              </a:lnSpc>
              <a:spcBef>
                <a:spcPct val="0"/>
              </a:spcBef>
            </a:pPr>
            <a:r>
              <a:rPr lang="en-US" sz="2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Users:</a:t>
            </a:r>
          </a:p>
          <a:p>
            <a:pPr algn="l">
              <a:lnSpc>
                <a:spcPts val="3701"/>
              </a:lnSpc>
              <a:spcBef>
                <a:spcPct val="0"/>
              </a:spcBef>
            </a:pPr>
            <a:r>
              <a:rPr lang="en-US" sz="2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website can be accessed using:</a:t>
            </a:r>
          </a:p>
          <a:p>
            <a:pPr algn="l" marL="570823" indent="-285412" lvl="1">
              <a:lnSpc>
                <a:spcPts val="3701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Desktop</a:t>
            </a:r>
          </a:p>
          <a:p>
            <a:pPr algn="l" marL="570823" indent="-285412" lvl="1">
              <a:lnSpc>
                <a:spcPts val="3701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Laptop</a:t>
            </a:r>
          </a:p>
          <a:p>
            <a:pPr algn="l" marL="570823" indent="-285412" lvl="1">
              <a:lnSpc>
                <a:spcPts val="3701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Tablet</a:t>
            </a:r>
          </a:p>
          <a:p>
            <a:pPr algn="l" marL="570823" indent="-285412" lvl="1">
              <a:lnSpc>
                <a:spcPts val="3701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Smartphone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3929" y="1614995"/>
            <a:ext cx="6819424" cy="30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Requirements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Windows / Linux / macOS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 Studio Code or any HTML editor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Google Chrome / Microsoft Edge / Firefox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 account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 Pages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76495" y="5194286"/>
            <a:ext cx="2117050" cy="44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b="true" sz="25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93929" y="5788878"/>
            <a:ext cx="1634966" cy="218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b="true" sz="251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</a:p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HTML5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CSS3</a:t>
            </a:r>
          </a:p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JavaScript</a:t>
            </a:r>
          </a:p>
          <a:p>
            <a:pPr algn="l">
              <a:lnSpc>
                <a:spcPts val="352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93929" y="7733510"/>
            <a:ext cx="4336647" cy="129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</a:t>
            </a:r>
          </a:p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included in the current frontend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1396" y="5798403"/>
            <a:ext cx="4227904" cy="129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</a:t>
            </a:r>
          </a:p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included in the current frontend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44263" y="7699079"/>
            <a:ext cx="2053352" cy="8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Hosting:</a:t>
            </a:r>
          </a:p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 Pages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935051" y="2596414"/>
          <a:ext cx="14231207" cy="6496050"/>
        </p:xfrm>
        <a:graphic>
          <a:graphicData uri="http://schemas.openxmlformats.org/drawingml/2006/table">
            <a:tbl>
              <a:tblPr/>
              <a:tblGrid>
                <a:gridCol w="4003699"/>
                <a:gridCol w="4766161"/>
                <a:gridCol w="5461347"/>
              </a:tblGrid>
              <a:tr h="9197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Timeline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Requirement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Week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Website / UI Planning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Home Page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Menu &amp; Food Categories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Order Tracking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JavaScript Interactions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7913733" y="884724"/>
            <a:ext cx="1547098" cy="49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8"/>
              </a:lnSpc>
              <a:spcBef>
                <a:spcPct val="0"/>
              </a:spcBef>
            </a:pPr>
            <a:r>
              <a:rPr lang="en-US" b="true" sz="28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55010"/>
            <a:ext cx="10191631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suitable development timeline for the Foodie frontend project is: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96713" y="1028700"/>
          <a:ext cx="15507883" cy="4601659"/>
        </p:xfrm>
        <a:graphic>
          <a:graphicData uri="http://schemas.openxmlformats.org/drawingml/2006/table">
            <a:tbl>
              <a:tblPr/>
              <a:tblGrid>
                <a:gridCol w="4751772"/>
                <a:gridCol w="5520393"/>
                <a:gridCol w="5235718"/>
              </a:tblGrid>
              <a:tr h="1027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Responsive Design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31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Testing &amp; Bug Fixing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9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GitHub 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8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Final Documentation &amp; Presentation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Week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24875" y="971550"/>
            <a:ext cx="4851559" cy="4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Simple Gantt Representation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941224"/>
            <a:ext cx="15905803" cy="7317076"/>
            <a:chOff x="0" y="0"/>
            <a:chExt cx="4189183" cy="19271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89183" cy="1927131"/>
            </a:xfrm>
            <a:custGeom>
              <a:avLst/>
              <a:gdLst/>
              <a:ahLst/>
              <a:cxnLst/>
              <a:rect r="r" b="b" t="t" l="l"/>
              <a:pathLst>
                <a:path h="1927131" w="4189183">
                  <a:moveTo>
                    <a:pt x="0" y="0"/>
                  </a:moveTo>
                  <a:lnTo>
                    <a:pt x="4189183" y="0"/>
                  </a:lnTo>
                  <a:lnTo>
                    <a:pt x="4189183" y="1927131"/>
                  </a:lnTo>
                  <a:lnTo>
                    <a:pt x="0" y="1927131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189183" cy="1974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64565" y="3113864"/>
            <a:ext cx="11381347" cy="493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Requirement Analysis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Planning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Home Page      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Menu Development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Order Tracking         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JavaScript            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Responsive Design              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Testing                      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Deployment                                                   </a:t>
            </a:r>
          </a:p>
          <a:p>
            <a:pPr algn="l">
              <a:lnSpc>
                <a:spcPts val="3950"/>
              </a:lnSpc>
            </a:pPr>
            <a:r>
              <a:rPr lang="en-US" sz="282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Documentation                                          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24875" y="2239169"/>
            <a:ext cx="1060728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1098" y="2239169"/>
            <a:ext cx="15905803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23532" y="2239169"/>
            <a:ext cx="15905803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 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56278" y="2239169"/>
            <a:ext cx="15905803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00899" y="2239169"/>
            <a:ext cx="15905803" cy="42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Week 5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24875" y="3166298"/>
            <a:ext cx="606777" cy="345795"/>
            <a:chOff x="0" y="0"/>
            <a:chExt cx="159810" cy="91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24875" y="3716263"/>
            <a:ext cx="606777" cy="345795"/>
            <a:chOff x="0" y="0"/>
            <a:chExt cx="159810" cy="910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747266" y="4062058"/>
            <a:ext cx="606777" cy="345795"/>
            <a:chOff x="0" y="0"/>
            <a:chExt cx="159810" cy="910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47266" y="4598922"/>
            <a:ext cx="606777" cy="345795"/>
            <a:chOff x="0" y="0"/>
            <a:chExt cx="159810" cy="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76434" y="5143500"/>
            <a:ext cx="606777" cy="345795"/>
            <a:chOff x="0" y="0"/>
            <a:chExt cx="159810" cy="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73045" y="5607509"/>
            <a:ext cx="606777" cy="345795"/>
            <a:chOff x="0" y="0"/>
            <a:chExt cx="159810" cy="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05791" y="6272039"/>
            <a:ext cx="606777" cy="345795"/>
            <a:chOff x="0" y="0"/>
            <a:chExt cx="159810" cy="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02403" y="6873412"/>
            <a:ext cx="606777" cy="345795"/>
            <a:chOff x="0" y="0"/>
            <a:chExt cx="159810" cy="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550412" y="7219208"/>
            <a:ext cx="606777" cy="345795"/>
            <a:chOff x="0" y="0"/>
            <a:chExt cx="159810" cy="910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247024" y="7707733"/>
            <a:ext cx="606777" cy="345795"/>
            <a:chOff x="0" y="0"/>
            <a:chExt cx="159810" cy="9107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9810" cy="91074"/>
            </a:xfrm>
            <a:custGeom>
              <a:avLst/>
              <a:gdLst/>
              <a:ahLst/>
              <a:cxnLst/>
              <a:rect r="r" b="b" t="t" l="l"/>
              <a:pathLst>
                <a:path h="91074" w="159810">
                  <a:moveTo>
                    <a:pt x="0" y="0"/>
                  </a:moveTo>
                  <a:lnTo>
                    <a:pt x="159810" y="0"/>
                  </a:lnTo>
                  <a:lnTo>
                    <a:pt x="159810" y="91074"/>
                  </a:lnTo>
                  <a:lnTo>
                    <a:pt x="0" y="9107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59810" cy="13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664828" y="971550"/>
            <a:ext cx="1716524" cy="4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  <a:spcBef>
                <a:spcPct val="0"/>
              </a:spcBef>
            </a:pPr>
            <a:r>
              <a:rPr lang="en-US" b="true" sz="26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66419"/>
            <a:ext cx="15896219" cy="392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Application Development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Foodie Online Food Ordering &amp; Order Tracking Website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Responsive Frontend Development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using HTML5, CSS3, and JavaScript.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Online Food Ordering Interface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Users can explore food categories, view food items, and interact with ordering features.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Tracking Interface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Users can track their order using Order ID and Table Number.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Responsive UI/UX: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Website designed for desktop, tablet, and mobile devices.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Deployment: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Website successfully deployed online using GitHub Pages.</a:t>
            </a:r>
          </a:p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Integration of backend, database, payment gateway, authentication, and real-time order management to convert it into a complete full-stack application.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36772"/>
            <a:ext cx="15537738" cy="1746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897" indent="-26994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Paper Publication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research paper can be prepared and submitted based on the development of the Foodie Online Food Ordering Website, focusing on its responsive UI/UX design, food menu management interface, ordering process, and order-tracking functionality using HTML5, CSS3, and JavaScript.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976" y="7365871"/>
            <a:ext cx="15422462" cy="129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07" indent="-269753" lvl="1">
              <a:lnSpc>
                <a:spcPts val="3498"/>
              </a:lnSpc>
              <a:buFont typeface="Arial"/>
              <a:buChar char="•"/>
            </a:pPr>
            <a:r>
              <a:rPr lang="en-US" b="true" sz="2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Patent Filing/Grant</a:t>
            </a:r>
            <a:r>
              <a:rPr lang="en-US" sz="2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project may be considered for patent filing if an innovative and novel technical approach is developed, particularly around its food-ordering or order-tracking solution. A patent grant would be subject to novelty, inventive-step, and eligibility requirements.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596429" y="483731"/>
            <a:ext cx="0" cy="93139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96429" y="483731"/>
            <a:ext cx="1688939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17504879" y="483770"/>
            <a:ext cx="19035" cy="92948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596429" y="9797668"/>
            <a:ext cx="1692748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984557" y="3986845"/>
            <a:ext cx="6132195" cy="127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8"/>
              </a:lnSpc>
              <a:spcBef>
                <a:spcPct val="0"/>
              </a:spcBef>
            </a:pPr>
            <a:r>
              <a:rPr lang="en-US" b="true" sz="74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DAHVGCmsoMg</dc:identifier>
  <dcterms:modified xsi:type="dcterms:W3CDTF">2011-08-01T06:04:30Z</dcterms:modified>
  <cp:revision>1</cp:revision>
  <dc:title>Your paragraph text</dc:title>
</cp:coreProperties>
</file>